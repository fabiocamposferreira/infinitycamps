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</p:sldMasterIdLst>
  <p:notesMasterIdLst>
    <p:notesMasterId r:id="rId5"/>
  </p:notesMasterIdLst>
  <p:sldIdLst>
    <p:sldId id="256" r:id="rId4"/>
    <p:sldId id="285" r:id="rId6"/>
    <p:sldId id="257" r:id="rId7"/>
    <p:sldId id="258" r:id="rId8"/>
    <p:sldId id="259" r:id="rId9"/>
    <p:sldId id="260" r:id="rId10"/>
    <p:sldId id="261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62" r:id="rId28"/>
    <p:sldId id="263" r:id="rId29"/>
    <p:sldId id="264" r:id="rId30"/>
    <p:sldId id="265" r:id="rId31"/>
    <p:sldId id="266" r:id="rId32"/>
    <p:sldId id="283" r:id="rId33"/>
    <p:sldId id="284" r:id="rId34"/>
    <p:sldId id="286" r:id="rId35"/>
    <p:sldId id="287" r:id="rId36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9" Type="http://schemas.openxmlformats.org/officeDocument/2006/relationships/tableStyles" Target="tableStyles.xml"/><Relationship Id="rId38" Type="http://schemas.openxmlformats.org/officeDocument/2006/relationships/viewProps" Target="viewProps.xml"/><Relationship Id="rId37" Type="http://schemas.openxmlformats.org/officeDocument/2006/relationships/presProps" Target="presProps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36592"/>
            <a:ext cx="9144000" cy="38404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77724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1C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 O que vamos construir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749808"/>
            <a:ext cx="8321040" cy="4114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914400"/>
            <a:ext cx="3931920" cy="3383280"/>
          </a:xfrm>
          <a:prstGeom prst="roundRect">
            <a:avLst>
              <a:gd name="adj" fmla="val 2162"/>
            </a:avLst>
          </a:prstGeom>
          <a:solidFill>
            <a:srgbClr val="FDEDEC"/>
          </a:solidFill>
          <a:ln w="12700">
            <a:solidFill>
              <a:srgbClr val="FDEDEC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987552"/>
            <a:ext cx="35661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74C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Funcionalidades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94360" y="1325880"/>
            <a:ext cx="3566160" cy="2560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74C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Buscar clima por nome de cidade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74C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Exibir temperatura, condição e precipitação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74C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Classificar nível de alerta por cor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74C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Remover cidades da lista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914400"/>
            <a:ext cx="3931920" cy="3383280"/>
          </a:xfrm>
          <a:prstGeom prst="roundRect">
            <a:avLst>
              <a:gd name="adj" fmla="val 2162"/>
            </a:avLst>
          </a:prstGeom>
          <a:solidFill>
            <a:srgbClr val="EAFAF1"/>
          </a:solidFill>
          <a:ln w="12700">
            <a:solidFill>
              <a:srgbClr val="EAFAF1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37760" y="987552"/>
            <a:ext cx="35661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84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Tecnologias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937760" y="1325880"/>
            <a:ext cx="3566160" cy="2560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84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React + Vite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84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CSS puro (sem Bootstrap)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84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Emojis (sem react-icons)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84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fetch nativo (sem axios)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84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OpenWeatherMap API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36592"/>
            <a:ext cx="9144000" cy="38404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77724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altLang="en-US" sz="2400" b="1" dirty="0">
                <a:solidFill>
                  <a:srgbClr val="1C1C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r>
              <a:rPr lang="en-US" sz="2400" b="1" dirty="0">
                <a:solidFill>
                  <a:srgbClr val="1C1C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. </a:t>
            </a:r>
            <a:r>
              <a:rPr lang="pt-BR" altLang="en-US" sz="2400" b="1" dirty="0">
                <a:solidFill>
                  <a:srgbClr val="1C1C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Passo a Passo</a:t>
            </a:r>
            <a:endParaRPr lang="pt-BR" altLang="en-US" sz="2400" b="1" dirty="0">
              <a:solidFill>
                <a:srgbClr val="1C1C1C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11480" y="749808"/>
            <a:ext cx="8321040" cy="4114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914400"/>
            <a:ext cx="8321040" cy="3585845"/>
          </a:xfrm>
          <a:prstGeom prst="roundRect">
            <a:avLst>
              <a:gd name="adj" fmla="val 2162"/>
            </a:avLst>
          </a:prstGeom>
          <a:solidFill>
            <a:srgbClr val="EAFAF1"/>
          </a:solidFill>
          <a:ln w="12700">
            <a:solidFill>
              <a:srgbClr val="EAFAF1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956945"/>
            <a:ext cx="8138160" cy="352742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 algn="l">
              <a:lnSpc>
                <a:spcPct val="250000"/>
              </a:lnSpc>
              <a:buClrTx/>
              <a:buSzTx/>
              <a:buFontTx/>
              <a:buAutoNum type="arabicPeriod"/>
            </a:pPr>
            <a:r>
              <a:rPr lang="pt-BR" altLang="en-US" sz="1350" b="1" dirty="0">
                <a:solidFill>
                  <a:srgbClr val="1E84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Adicionar botão + Cidades</a:t>
            </a:r>
            <a:endParaRPr lang="pt-BR" altLang="en-US" sz="1350" b="1" dirty="0">
              <a:solidFill>
                <a:srgbClr val="1E8449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342900" indent="-342900" algn="l">
              <a:lnSpc>
                <a:spcPct val="250000"/>
              </a:lnSpc>
              <a:buClrTx/>
              <a:buSzTx/>
              <a:buFontTx/>
              <a:buAutoNum type="arabicPeriod"/>
            </a:pPr>
            <a:r>
              <a:rPr lang="pt-BR" altLang="en-US" sz="1350" b="1" dirty="0">
                <a:solidFill>
                  <a:srgbClr val="1E84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Adicionar PopUp para escrever o nome da cidade</a:t>
            </a:r>
            <a:endParaRPr lang="pt-BR" altLang="en-US" sz="1350" b="1" dirty="0">
              <a:solidFill>
                <a:srgbClr val="1E8449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342900" indent="-342900" algn="l">
              <a:lnSpc>
                <a:spcPct val="250000"/>
              </a:lnSpc>
              <a:buClrTx/>
              <a:buSzTx/>
              <a:buFontTx/>
              <a:buAutoNum type="arabicPeriod"/>
            </a:pPr>
            <a:r>
              <a:rPr lang="pt-BR" altLang="en-US" sz="1350" b="1" dirty="0">
                <a:solidFill>
                  <a:srgbClr val="1E84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Conectar co a API</a:t>
            </a:r>
            <a:endParaRPr lang="pt-BR" altLang="en-US" sz="1350" b="1" dirty="0">
              <a:solidFill>
                <a:srgbClr val="1E8449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342900" indent="-342900" algn="l">
              <a:lnSpc>
                <a:spcPct val="250000"/>
              </a:lnSpc>
              <a:buClrTx/>
              <a:buSzTx/>
              <a:buFontTx/>
              <a:buAutoNum type="arabicPeriod"/>
            </a:pPr>
            <a:r>
              <a:rPr lang="pt-BR" altLang="en-US" sz="1350" b="1" dirty="0">
                <a:solidFill>
                  <a:srgbClr val="1E84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Criar Card da Cidade</a:t>
            </a:r>
            <a:endParaRPr lang="pt-BR" altLang="en-US" sz="1350" b="1" dirty="0">
              <a:solidFill>
                <a:srgbClr val="1E8449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342900" indent="-342900" algn="l">
              <a:lnSpc>
                <a:spcPct val="250000"/>
              </a:lnSpc>
              <a:buClrTx/>
              <a:buSzTx/>
              <a:buFontTx/>
              <a:buAutoNum type="arabicPeriod"/>
            </a:pPr>
            <a:r>
              <a:rPr lang="pt-BR" altLang="en-US" sz="1350" b="1" dirty="0">
                <a:solidFill>
                  <a:srgbClr val="1E84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Função de remover Cidades</a:t>
            </a:r>
            <a:endParaRPr lang="pt-BR" altLang="en-US" sz="1350" b="1" dirty="0">
              <a:solidFill>
                <a:srgbClr val="1E8449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342900" indent="-342900" algn="l">
              <a:lnSpc>
                <a:spcPct val="250000"/>
              </a:lnSpc>
              <a:buClrTx/>
              <a:buSzTx/>
              <a:buFontTx/>
              <a:buAutoNum type="arabicPeriod"/>
            </a:pPr>
            <a:r>
              <a:rPr lang="pt-BR" altLang="en-US" sz="1350" b="1" dirty="0">
                <a:solidFill>
                  <a:srgbClr val="1E84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Fazer o CSS</a:t>
            </a:r>
            <a:endParaRPr lang="pt-BR" alt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36592"/>
            <a:ext cx="9144000" cy="38404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77724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altLang="en-US" sz="2400" b="1" dirty="0">
                <a:solidFill>
                  <a:srgbClr val="1C1C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r>
              <a:rPr lang="en-US" sz="2400" b="1" dirty="0">
                <a:solidFill>
                  <a:srgbClr val="1C1C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. Criando o Projeto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749808"/>
            <a:ext cx="8321040" cy="4114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914400"/>
            <a:ext cx="8321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Execute os comandos abaixo no terminal, na ordem: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1298575"/>
            <a:ext cx="8321040" cy="1307465"/>
          </a:xfrm>
          <a:prstGeom prst="roundRect">
            <a:avLst>
              <a:gd name="adj" fmla="val 3077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p>
            <a:endParaRPr lang="pt-BR" altLang="en-US"/>
          </a:p>
        </p:txBody>
      </p:sp>
      <p:sp>
        <p:nvSpPr>
          <p:cNvPr id="9" name="Text 7"/>
          <p:cNvSpPr/>
          <p:nvPr/>
        </p:nvSpPr>
        <p:spPr>
          <a:xfrm>
            <a:off x="594360" y="1344295"/>
            <a:ext cx="8046720" cy="12623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npm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create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vite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@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latest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meu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app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react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template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react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cd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meu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app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react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npm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install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mkdir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src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components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mkdir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src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services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npm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run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dev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11480" y="3749040"/>
            <a:ext cx="8321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Após npm run dev, abra: http://localhost:5173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36592"/>
            <a:ext cx="9144000" cy="38404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77724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altLang="en-US" sz="2400" b="1" dirty="0">
                <a:solidFill>
                  <a:srgbClr val="1C1C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r>
              <a:rPr lang="en-US" sz="2400" b="1" dirty="0">
                <a:solidFill>
                  <a:srgbClr val="1C1C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. ✅ Checkpoint — Projeto rodando no localhost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749808"/>
            <a:ext cx="8321040" cy="4114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914400"/>
            <a:ext cx="3104515" cy="1656715"/>
          </a:xfrm>
          <a:prstGeom prst="roundRect">
            <a:avLst>
              <a:gd name="adj" fmla="val 2222"/>
            </a:avLst>
          </a:prstGeom>
          <a:solidFill>
            <a:srgbClr val="EAFAF1"/>
          </a:solidFill>
          <a:ln w="12700">
            <a:solidFill>
              <a:srgbClr val="EAFAF1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p>
            <a:endParaRPr lang="pt-BR" altLang="en-US"/>
          </a:p>
        </p:txBody>
      </p:sp>
      <p:sp>
        <p:nvSpPr>
          <p:cNvPr id="8" name="Text 6"/>
          <p:cNvSpPr/>
          <p:nvPr/>
        </p:nvSpPr>
        <p:spPr>
          <a:xfrm>
            <a:off x="594360" y="987552"/>
            <a:ext cx="35661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84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Correto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1371600"/>
            <a:ext cx="3566160" cy="23774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84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Logos do Vite e React aparecem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84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Contador funciona ao clicar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84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Sem erros no terminal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36592"/>
            <a:ext cx="9144000" cy="38404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77724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altLang="en-US" sz="2400" b="1" dirty="0">
                <a:solidFill>
                  <a:srgbClr val="1C1C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r>
              <a:rPr lang="en-US" sz="2400" b="1" dirty="0">
                <a:solidFill>
                  <a:srgbClr val="1C1C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. Configurando a API Key — .env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749808"/>
            <a:ext cx="8321040" cy="4114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914400"/>
            <a:ext cx="8321040" cy="10058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API Key não pode ficar no código — ficaria exposta no GitHub.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Crie o arquivo .env na raiz do projeto (mesma pasta do package.json).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Vite, toda variável de ambiente começa com VITE_.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1993392"/>
            <a:ext cx="8321040" cy="594360"/>
          </a:xfrm>
          <a:prstGeom prst="roundRect">
            <a:avLst>
              <a:gd name="adj" fmla="val 12308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2039112"/>
            <a:ext cx="80467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VITE_API_KEY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SUA_CHAVE_AQUI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1480" y="2743200"/>
            <a:ext cx="8321040" cy="822960"/>
          </a:xfrm>
          <a:prstGeom prst="roundRect">
            <a:avLst>
              <a:gd name="adj" fmla="val 8889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788920"/>
            <a:ext cx="80467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37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// No código, acessa assim: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C678D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const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API_KEY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C678D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import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.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meta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.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env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.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VITE_API_KEY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11480" y="3657600"/>
            <a:ext cx="8321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Crie sua chave gratuita em: openweathermap.org → API Keys  |  Reinicie o servidor após criar o .env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36592"/>
            <a:ext cx="9144000" cy="38404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77724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1C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 main.jsx — Parte 1: imports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749808"/>
            <a:ext cx="8321040" cy="4114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914400"/>
            <a:ext cx="8321040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Abra src/main.jsx e apague tudo que está lá.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main.jsx é o ponto de entrada do Vite (substitui o index.js do CRA).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1874520"/>
            <a:ext cx="8321040" cy="1463040"/>
          </a:xfrm>
          <a:prstGeom prst="roundRect">
            <a:avLst>
              <a:gd name="adj" fmla="val 5000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1920240"/>
            <a:ext cx="804672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678D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import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React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C678D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from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98C37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'react'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C678D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import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ReactDOM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C678D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from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98C37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'react-dom/client'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C678D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import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98C37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'./index.css'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C678D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import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App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C678D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from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98C37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'./App'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11480" y="3429000"/>
            <a:ext cx="83210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Cada import carrega um módulo: React (biblioteca), ReactDOM (renderização no navegador), CSS global e o componente principal.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36592"/>
            <a:ext cx="9144000" cy="38404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77724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1C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6. main.jsx — Parte 2: renderizando o App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749808"/>
            <a:ext cx="8321040" cy="4114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914400"/>
            <a:ext cx="8321040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Continuando no mesmo arquivo src/main.jsx.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createRoot conecta o React ao &lt;div id="root"&gt; do index.html.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1874520"/>
            <a:ext cx="8321040" cy="1828800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1920240"/>
            <a:ext cx="8046720" cy="1737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ReactDOM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.</a:t>
            </a:r>
            <a:r>
              <a:rPr lang="en-US" sz="1050" dirty="0">
                <a:solidFill>
                  <a:srgbClr val="61AFE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createRoot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document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.</a:t>
            </a:r>
            <a:r>
              <a:rPr lang="en-US" sz="1050" dirty="0">
                <a:solidFill>
                  <a:srgbClr val="61AFE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getElementById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</a:t>
            </a:r>
            <a:r>
              <a:rPr lang="en-US" sz="1050" dirty="0">
                <a:solidFill>
                  <a:srgbClr val="98C37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'root'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)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)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.</a:t>
            </a:r>
            <a:r>
              <a:rPr lang="en-US" sz="1050" dirty="0">
                <a:solidFill>
                  <a:srgbClr val="61AFE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render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E06C7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&lt;React.StrictMode&gt;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E06C7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&lt;App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&gt;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E06C7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&lt;/React.StrictMode&gt;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)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11480" y="3794760"/>
            <a:ext cx="83210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 arquivo completo fica com apenas 8 linhas. StrictMode ajuda a encontrar problemas durante o desenvolvimento.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36592"/>
            <a:ext cx="9144000" cy="38404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77724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1C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12. BotaoAdicionarCidade.jsx — Código completo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749808"/>
            <a:ext cx="8321040" cy="4114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914400"/>
            <a:ext cx="8321040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Crie: src/components/BotaoAdicionarCidade.jsx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Componente mais simples — recebe onClick e renderiza um botão.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1874520"/>
            <a:ext cx="8321040" cy="2286000"/>
          </a:xfrm>
          <a:prstGeom prst="roundRect">
            <a:avLst>
              <a:gd name="adj" fmla="val 3200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1920240"/>
            <a:ext cx="8046720" cy="2194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678D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export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C678D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default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C678D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function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61AFE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BotaoAdicionarCidade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{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onClick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)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{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C678D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return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E06C7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&lt;button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className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50" dirty="0">
                <a:solidFill>
                  <a:srgbClr val="98C37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"btn-adicionar"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onClick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{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onClick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&gt;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+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Adicionar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Cidade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E06C7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&lt;/button&gt;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)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11480" y="4251960"/>
            <a:ext cx="8321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555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onClick é uma função passada pelo pai — o componente só avisa que foi clicado.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36592"/>
            <a:ext cx="9144000" cy="38404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77724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1C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13. App.jsx — Parte 1: imports e estados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749808"/>
            <a:ext cx="8321040" cy="4114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914400"/>
            <a:ext cx="8321040" cy="411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Abra src/App.jsx e apague tudo. Digite os imports e os 4 estados: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1463040"/>
            <a:ext cx="8321040" cy="3291840"/>
          </a:xfrm>
          <a:prstGeom prst="roundRect">
            <a:avLst>
              <a:gd name="adj" fmla="val 2222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1508760"/>
            <a:ext cx="8046720" cy="3200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678D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import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{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useState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C678D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from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98C37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'react'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C678D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import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98C37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'./App.css'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C678D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import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CidadeCard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C678D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from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98C37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'./components/CidadeCard'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C678D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import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BotaoAdicionarCidade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C678D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from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98C37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'./components/BotaoAdicionarCidade'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C678D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import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InputCidade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C678D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from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98C37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'./components/InputCidade'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C678D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import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{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buscarClimaCidade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,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definirNivelAlerta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C678D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from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98C37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'./services/weatherService'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C678D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export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C678D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default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C678D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function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61AFE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App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)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{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C678D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const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[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cidades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,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setCidades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]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61AFE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useState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[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]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)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C678D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const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[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mostraInput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,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setMostraInput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]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61AFE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useState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</a:t>
            </a:r>
            <a:r>
              <a:rPr lang="en-US" sz="1050" dirty="0">
                <a:solidFill>
                  <a:srgbClr val="C678D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false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)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C678D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const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[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carregando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,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setCarregando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]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61AFE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useState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</a:t>
            </a:r>
            <a:r>
              <a:rPr lang="en-US" sz="1050" dirty="0">
                <a:solidFill>
                  <a:srgbClr val="C678D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false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)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C678D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const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[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erro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,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setErro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]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61AFE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useState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</a:t>
            </a:r>
            <a:r>
              <a:rPr lang="en-US" sz="1050" dirty="0">
                <a:solidFill>
                  <a:srgbClr val="98C37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''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)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36592"/>
            <a:ext cx="9144000" cy="38404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77724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1C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14. App.jsx — Parte 2: renderizando o botão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749808"/>
            <a:ext cx="8321040" cy="4114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914400"/>
            <a:ext cx="8321040" cy="411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Continue no App.jsx — adicione o return com header e botão: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1463040"/>
            <a:ext cx="8321040" cy="3017520"/>
          </a:xfrm>
          <a:prstGeom prst="roundRect">
            <a:avLst>
              <a:gd name="adj" fmla="val 2424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1508760"/>
            <a:ext cx="8046720" cy="2926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C678D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return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E06C7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&lt;div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className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50" dirty="0">
                <a:solidFill>
                  <a:srgbClr val="98C37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"app-container"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&gt;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E06C7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&lt;header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className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50" dirty="0">
                <a:solidFill>
                  <a:srgbClr val="98C37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"header"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&gt;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E06C7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&lt;h1&gt;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�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�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Dashboard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de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Monitoramento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de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Clima</a:t>
            </a:r>
            <a:r>
              <a:rPr lang="en-US" sz="1050" dirty="0">
                <a:solidFill>
                  <a:srgbClr val="E06C7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&lt;/h1&gt;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E06C7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&lt;p&gt;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Log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í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stica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&amp;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Entregas</a:t>
            </a:r>
            <a:r>
              <a:rPr lang="en-US" sz="1050" dirty="0">
                <a:solidFill>
                  <a:srgbClr val="E06C7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&lt;/p&gt;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E06C7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&lt;/header&gt;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E06C7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&lt;div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className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50" dirty="0">
                <a:solidFill>
                  <a:srgbClr val="98C37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"container"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&gt;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{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!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mostraInput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&amp;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&amp;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E06C7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&lt;BotaoAdicionarCidade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onClick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{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)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&gt;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61AFE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setMostraInput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</a:t>
            </a:r>
            <a:r>
              <a:rPr lang="en-US" sz="1050" dirty="0">
                <a:solidFill>
                  <a:srgbClr val="C678D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true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)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&gt;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)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E06C7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&lt;/div&gt;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E06C7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&lt;/div&gt;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)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36592"/>
            <a:ext cx="9144000" cy="38404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77724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1C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15. ✅ Checkpoint — Botão aparece na tela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749808"/>
            <a:ext cx="8321040" cy="4114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914400"/>
            <a:ext cx="3931920" cy="3291840"/>
          </a:xfrm>
          <a:prstGeom prst="roundRect">
            <a:avLst>
              <a:gd name="adj" fmla="val 2222"/>
            </a:avLst>
          </a:prstGeom>
          <a:solidFill>
            <a:srgbClr val="EAFAF1"/>
          </a:solidFill>
          <a:ln w="12700">
            <a:solidFill>
              <a:srgbClr val="EAFAF1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987552"/>
            <a:ext cx="35661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84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Deve aparecer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1371600"/>
            <a:ext cx="3566160" cy="23774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84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Header azul com título 🚚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84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Botão azul + Adicionar Cidade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84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Fundo cinza claro na página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36592"/>
            <a:ext cx="9144000" cy="38404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77724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1C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16. InputCidade.jsx — Parte 1: estado e função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749808"/>
            <a:ext cx="8321040" cy="4114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914400"/>
            <a:ext cx="8321040" cy="411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Crie: src/components/InputCidade.jsx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1463040"/>
            <a:ext cx="8321040" cy="3017520"/>
          </a:xfrm>
          <a:prstGeom prst="roundRect">
            <a:avLst>
              <a:gd name="adj" fmla="val 2424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1508760"/>
            <a:ext cx="8046720" cy="2926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678D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import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{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useState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C678D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from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98C37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'react'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C678D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export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C678D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default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C678D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function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61AFE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InputCidade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{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onAdicionar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,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onFechar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)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{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C678D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const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[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nomeCidade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,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setNomeCidade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]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61AFE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useState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</a:t>
            </a:r>
            <a:r>
              <a:rPr lang="en-US" sz="1050" dirty="0">
                <a:solidFill>
                  <a:srgbClr val="98C37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''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)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C678D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const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handleBuscar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)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&gt;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{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C678D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if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nomeCidade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.</a:t>
            </a:r>
            <a:r>
              <a:rPr lang="en-US" sz="1050" dirty="0">
                <a:solidFill>
                  <a:srgbClr val="61AFE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trim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)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98C37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''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)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{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61AFE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alert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</a:t>
            </a:r>
            <a:r>
              <a:rPr lang="en-US" sz="1050" dirty="0">
                <a:solidFill>
                  <a:srgbClr val="98C37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'Digite o nome de uma cidade'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)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C678D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return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61AFE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onAdicionar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nomeCidade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)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61AFE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setNomeCidade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</a:t>
            </a:r>
            <a:r>
              <a:rPr lang="en-US" sz="1050" dirty="0">
                <a:solidFill>
                  <a:srgbClr val="98C37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''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)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36592"/>
            <a:ext cx="9144000" cy="38404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77724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1C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17. InputCidade.jsx — Parte 2: renderização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749808"/>
            <a:ext cx="8321040" cy="4114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914400"/>
            <a:ext cx="8321040" cy="411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Continue no mesmo arquivo — adicione o return: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1463040"/>
            <a:ext cx="8321040" cy="3017520"/>
          </a:xfrm>
          <a:prstGeom prst="roundRect">
            <a:avLst>
              <a:gd name="adj" fmla="val 2424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1508760"/>
            <a:ext cx="8046720" cy="2926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C678D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return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E06C7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&lt;div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className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50" dirty="0">
                <a:solidFill>
                  <a:srgbClr val="98C37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"input-card"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&gt;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E06C7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&lt;h5&gt;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Adicionar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Nova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Cidade</a:t>
            </a:r>
            <a:r>
              <a:rPr lang="en-US" sz="1050" dirty="0">
                <a:solidFill>
                  <a:srgbClr val="E06C7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&lt;/h5&gt;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E06C7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&lt;input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type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50" dirty="0">
                <a:solidFill>
                  <a:srgbClr val="98C37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"text"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placeholder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50" dirty="0">
                <a:solidFill>
                  <a:srgbClr val="98C37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"Ex: São Paulo"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value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{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nomeCidade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onChange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{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e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)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&gt;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61AFE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setNomeCidade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e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.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target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.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value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)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onKeyDown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{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e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)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&gt;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e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.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key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98C37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'Enter'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&amp;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&amp;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61AFE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handleBuscar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)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&gt;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E06C7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&lt;div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className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50" dirty="0">
                <a:solidFill>
                  <a:srgbClr val="98C37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"input-botoes"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&gt;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E06C7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&lt;button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className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50" dirty="0">
                <a:solidFill>
                  <a:srgbClr val="98C37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"btn-buscar"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onClick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{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handleBuscar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&gt;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Buscar</a:t>
            </a:r>
            <a:r>
              <a:rPr lang="en-US" sz="1050" dirty="0">
                <a:solidFill>
                  <a:srgbClr val="E06C7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&lt;/button&gt;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E06C7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&lt;button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className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50" dirty="0">
                <a:solidFill>
                  <a:srgbClr val="98C37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"btn-cancelar"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onClick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{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onFechar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&gt;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Cancelar</a:t>
            </a:r>
            <a:r>
              <a:rPr lang="en-US" sz="1050" dirty="0">
                <a:solidFill>
                  <a:srgbClr val="E06C7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&lt;/button&gt;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E06C7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&lt;/div&gt;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E06C7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&lt;/div&gt;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)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36592"/>
            <a:ext cx="9144000" cy="38404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77724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1C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18. App.jsx — Parte 3: renderizando o InputCidade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749808"/>
            <a:ext cx="8321040" cy="4114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914400"/>
            <a:ext cx="8321040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Volte ao App.jsx.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Dentro do &lt;div className="container"&gt;, após o bloco do botão, adicione: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1920240"/>
            <a:ext cx="8321040" cy="1828800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1965960"/>
            <a:ext cx="8046720" cy="1737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{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mostraInput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&amp;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&amp;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InputCidade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onAdicionar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{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handleAdicionarCidade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onFechar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{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)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&gt;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61AFE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setMostraInput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</a:t>
            </a:r>
            <a:r>
              <a:rPr lang="en-US" sz="1050" dirty="0">
                <a:solidFill>
                  <a:srgbClr val="C678D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false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)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&gt;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)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11480" y="3840480"/>
            <a:ext cx="83210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Quando mostraInput for true → input aparece, botão some. Quando false → botão aparece, input some.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36592"/>
            <a:ext cx="9144000" cy="38404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77724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1C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19. ✅ Checkpoint — Botão abre e fecha o input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749808"/>
            <a:ext cx="8321040" cy="4114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914400"/>
            <a:ext cx="3931920" cy="3291840"/>
          </a:xfrm>
          <a:prstGeom prst="roundRect">
            <a:avLst>
              <a:gd name="adj" fmla="val 2222"/>
            </a:avLst>
          </a:prstGeom>
          <a:solidFill>
            <a:srgbClr val="EAFAF1"/>
          </a:solidFill>
          <a:ln w="12700">
            <a:solidFill>
              <a:srgbClr val="EAFAF1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987552"/>
            <a:ext cx="35661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84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Deve funcionar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1371600"/>
            <a:ext cx="3566160" cy="23774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84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Botão → input aparece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84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Cancelar → botão volta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84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Enter e Buscar respondem ao clique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36592"/>
            <a:ext cx="9144000" cy="38404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77724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1C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20. weatherService.js — Parte 1: configuração e busca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749808"/>
            <a:ext cx="8321040" cy="4114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914400"/>
            <a:ext cx="8321040" cy="411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Crie: src/services/weatherService.js  |  fetch nativo, sem instalar nada.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1463040"/>
            <a:ext cx="8321040" cy="3108960"/>
          </a:xfrm>
          <a:prstGeom prst="roundRect">
            <a:avLst>
              <a:gd name="adj" fmla="val 2353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1508760"/>
            <a:ext cx="8046720" cy="3017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678D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const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API_KEY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C678D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import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.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meta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.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env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.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VITE_API_KEY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C678D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const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BASE_URL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98C37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'https://api.openweathermap.org/data/2.5/weather'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C678D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export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C678D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async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C678D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function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61AFE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buscarClimaCidade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cidade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)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{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C678D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try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{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C678D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const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url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98C37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`${BASE_URL}?q=${cidade}&amp;units=metric&amp;lang=pt_br&amp;appid=${API_KEY}`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C678D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const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response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C678D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await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61AFE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fetch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url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)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C678D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const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dados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C678D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await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response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.</a:t>
            </a:r>
            <a:r>
              <a:rPr lang="en-US" sz="1050" dirty="0">
                <a:solidFill>
                  <a:srgbClr val="61AFE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json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)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C678D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return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{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cidade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: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dados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.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name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,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temperatura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: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Math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.</a:t>
            </a:r>
            <a:r>
              <a:rPr lang="en-US" sz="1050" dirty="0">
                <a:solidFill>
                  <a:srgbClr val="61AFE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round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dados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.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main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.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temp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)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,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condicao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: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dados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.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weather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[</a:t>
            </a:r>
            <a:r>
              <a:rPr lang="en-US" sz="1050" dirty="0">
                <a:solidFill>
                  <a:srgbClr val="D19A6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]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.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main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,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precipitacao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: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dados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.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clouds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.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all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C678D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catch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erro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)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{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C678D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throw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C678D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new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61AFE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Error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</a:t>
            </a:r>
            <a:r>
              <a:rPr lang="en-US" sz="1050" dirty="0">
                <a:solidFill>
                  <a:srgbClr val="98C37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`Não consegui encontrar a cidade: ${cidade}`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)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36592"/>
            <a:ext cx="9144000" cy="38404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77724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1C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21. weatherService.js — Parte 2: nível de alerta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749808"/>
            <a:ext cx="8321040" cy="4114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914400"/>
            <a:ext cx="8321040" cy="411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Continue no mesmo arquivo — adicione a função abaixo: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1463040"/>
            <a:ext cx="8321040" cy="2286000"/>
          </a:xfrm>
          <a:prstGeom prst="roundRect">
            <a:avLst>
              <a:gd name="adj" fmla="val 3200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1508760"/>
            <a:ext cx="8046720" cy="2194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678D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export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C678D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function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61AFE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definirNivelAlerta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precipitacao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,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condicao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)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{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C678D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if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precipitacao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&gt;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D19A6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70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|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|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condicao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.</a:t>
            </a:r>
            <a:r>
              <a:rPr lang="en-US" sz="1050" dirty="0">
                <a:solidFill>
                  <a:srgbClr val="61AFE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toLowerCase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)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.</a:t>
            </a:r>
            <a:r>
              <a:rPr lang="en-US" sz="1050" dirty="0">
                <a:solidFill>
                  <a:srgbClr val="61AFE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includes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</a:t>
            </a:r>
            <a:r>
              <a:rPr lang="en-US" sz="1050" dirty="0">
                <a:solidFill>
                  <a:srgbClr val="98C37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'rain'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)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)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{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C678D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return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98C37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'vermelho'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C678D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if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precipitacao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&gt;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D19A6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40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)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{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C678D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return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98C37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'amarelo'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C678D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return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98C37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'verde'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1480" y="3858768"/>
            <a:ext cx="2651760" cy="594360"/>
          </a:xfrm>
          <a:prstGeom prst="roundRect">
            <a:avLst>
              <a:gd name="adj" fmla="val 12308"/>
            </a:avLst>
          </a:prstGeom>
          <a:solidFill>
            <a:srgbClr val="FDEDEC"/>
          </a:solidFill>
          <a:ln w="12700">
            <a:solidFill>
              <a:srgbClr val="FDEDEC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3895344"/>
            <a:ext cx="2468880" cy="5212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74C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🔴 Vermelho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74C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precip. &gt; 70% ou chuva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91840" y="3858768"/>
            <a:ext cx="2651760" cy="594360"/>
          </a:xfrm>
          <a:prstGeom prst="roundRect">
            <a:avLst>
              <a:gd name="adj" fmla="val 12308"/>
            </a:avLst>
          </a:prstGeom>
          <a:solidFill>
            <a:srgbClr val="FEFDE7"/>
          </a:solidFill>
          <a:ln w="12700">
            <a:solidFill>
              <a:srgbClr val="FEFDE7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383280" y="3895344"/>
            <a:ext cx="2468880" cy="5212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4AC0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🟡 Amarelo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4AC0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precip. entre 40% e 70%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72200" y="3858768"/>
            <a:ext cx="2560320" cy="594360"/>
          </a:xfrm>
          <a:prstGeom prst="roundRect">
            <a:avLst>
              <a:gd name="adj" fmla="val 12308"/>
            </a:avLst>
          </a:prstGeom>
          <a:solidFill>
            <a:srgbClr val="EAFAF1"/>
          </a:solidFill>
          <a:ln w="12700">
            <a:solidFill>
              <a:srgbClr val="EAFAF1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63640" y="3895344"/>
            <a:ext cx="2377440" cy="5212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84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🟢 Verde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84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precip. abaixo de 40%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36592"/>
            <a:ext cx="9144000" cy="38404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77724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1C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22. App.jsx — Parte 4: função handleAdicionarCidade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749808"/>
            <a:ext cx="8321040" cy="4114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914400"/>
            <a:ext cx="8321040" cy="411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Volte ao App.jsx. Adicione antes do return, logo após os estados: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1463040"/>
            <a:ext cx="8321040" cy="3017520"/>
          </a:xfrm>
          <a:prstGeom prst="roundRect">
            <a:avLst>
              <a:gd name="adj" fmla="val 2424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1508760"/>
            <a:ext cx="8046720" cy="2926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C678D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const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handleAdicionarCidade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C678D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async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nomeCidade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)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&gt;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{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61AFE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setCarregando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</a:t>
            </a:r>
            <a:r>
              <a:rPr lang="en-US" sz="1050" dirty="0">
                <a:solidFill>
                  <a:srgbClr val="C678D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true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)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61AFE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setErro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</a:t>
            </a:r>
            <a:r>
              <a:rPr lang="en-US" sz="1050" dirty="0">
                <a:solidFill>
                  <a:srgbClr val="98C37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''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)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C678D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try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{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C678D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const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dadosClima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C678D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await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61AFE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buscarClimaCidade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nomeCidade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)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C678D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const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nivelAlerta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61AFE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definirNivelAlerta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dadosClima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.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precipitacao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,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dadosClima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.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condicao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)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61AFE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setCidades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prev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)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&gt;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[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.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.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.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prev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,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{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id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: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Date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.</a:t>
            </a:r>
            <a:r>
              <a:rPr lang="en-US" sz="1050" dirty="0">
                <a:solidFill>
                  <a:srgbClr val="61AFE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now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)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,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.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.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.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dadosClima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,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nivelAlerta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]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)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61AFE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setMostraInput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</a:t>
            </a:r>
            <a:r>
              <a:rPr lang="en-US" sz="1050" dirty="0">
                <a:solidFill>
                  <a:srgbClr val="C678D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false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)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C678D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catch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err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)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{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61AFE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setErro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err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.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message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)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C678D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finally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{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61AFE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setCarregando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</a:t>
            </a:r>
            <a:r>
              <a:rPr lang="en-US" sz="1050" dirty="0">
                <a:solidFill>
                  <a:srgbClr val="C678D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false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)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36592"/>
            <a:ext cx="9144000" cy="38404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77724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1C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23. CidadeCard.jsx — Parte 1: funções internas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749808"/>
            <a:ext cx="8321040" cy="4114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914400"/>
            <a:ext cx="8321040" cy="411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Crie: src/components/CidadeCard.jsx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1463040"/>
            <a:ext cx="8321040" cy="3017520"/>
          </a:xfrm>
          <a:prstGeom prst="roundRect">
            <a:avLst>
              <a:gd name="adj" fmla="val 2424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1508760"/>
            <a:ext cx="8046720" cy="2926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678D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export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C678D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default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C678D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function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61AFE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CidadeCard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{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cidade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,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temperatura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,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condicao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,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precipitacao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,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nivelAlerta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)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{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C678D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const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obterCorAlerta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)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&gt;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{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C678D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if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nivelAlerta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98C37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'vermelho'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)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C678D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return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98C37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'#f8d7da'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C678D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if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nivelAlerta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98C37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'amarelo'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)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C678D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return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98C37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'#fff3cd'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C678D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return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98C37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'#d1e7dd'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C678D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const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obterIcone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)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&gt;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{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C678D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if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condicao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.</a:t>
            </a:r>
            <a:r>
              <a:rPr lang="en-US" sz="1050" dirty="0">
                <a:solidFill>
                  <a:srgbClr val="61AFE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toLowerCase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)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.</a:t>
            </a:r>
            <a:r>
              <a:rPr lang="en-US" sz="1050" dirty="0">
                <a:solidFill>
                  <a:srgbClr val="61AFE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includes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</a:t>
            </a:r>
            <a:r>
              <a:rPr lang="en-US" sz="1050" dirty="0">
                <a:solidFill>
                  <a:srgbClr val="98C37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'rain'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)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)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C678D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return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98C37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'🌧️'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C678D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return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98C37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'☁️'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C678D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const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obterMensagemAlerta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)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&gt;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{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C678D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if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nivelAlerta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98C37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'vermelho'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)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C678D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return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98C37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'⚠️ ALERTA: Risco alto de atraso'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C678D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if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nivelAlerta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98C37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'amarelo'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)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C678D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return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98C37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'⚠️ AMARELO: Monitore a situação'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C678D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return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98C37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'✅ VERDE: Seguro para entrega'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36592"/>
            <a:ext cx="9144000" cy="38404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77724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1C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24. CidadeCard.jsx — Parte 2: renderização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749808"/>
            <a:ext cx="8321040" cy="4114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914400"/>
            <a:ext cx="8321040" cy="411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Continue no mesmo arquivo — adicione o return: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1463040"/>
            <a:ext cx="8321040" cy="3017520"/>
          </a:xfrm>
          <a:prstGeom prst="roundRect">
            <a:avLst>
              <a:gd name="adj" fmla="val 2424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1508760"/>
            <a:ext cx="8046720" cy="2926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C678D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return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E06C7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&lt;div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style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{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{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backgroundColor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: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61AFE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obterCorAlerta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)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className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50" dirty="0">
                <a:solidFill>
                  <a:srgbClr val="98C37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"card"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&gt;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E06C7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&lt;div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className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50" dirty="0">
                <a:solidFill>
                  <a:srgbClr val="98C37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"card-topo"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&gt;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E06C7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&lt;div&gt;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E06C7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&lt;span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className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50" dirty="0">
                <a:solidFill>
                  <a:srgbClr val="98C37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"icone"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&gt;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{</a:t>
            </a:r>
            <a:r>
              <a:rPr lang="en-US" sz="1050" dirty="0">
                <a:solidFill>
                  <a:srgbClr val="61AFE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obterIcone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)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r>
              <a:rPr lang="en-US" sz="1050" dirty="0">
                <a:solidFill>
                  <a:srgbClr val="E06C7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&lt;/span&gt;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E06C7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&lt;h5&gt;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{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cidade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r>
              <a:rPr lang="en-US" sz="1050" dirty="0">
                <a:solidFill>
                  <a:srgbClr val="E06C7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&lt;/h5&gt;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E06C7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&lt;/div&gt;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E06C7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&lt;div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className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50" dirty="0">
                <a:solidFill>
                  <a:srgbClr val="98C37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"card-dados"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&gt;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E06C7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&lt;h3&gt;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{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temperatura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°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</a:t>
            </a:r>
            <a:r>
              <a:rPr lang="en-US" sz="1050" dirty="0">
                <a:solidFill>
                  <a:srgbClr val="E06C7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&lt;/h3&gt;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E06C7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&lt;p&gt;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{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condicao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r>
              <a:rPr lang="en-US" sz="1050" dirty="0">
                <a:solidFill>
                  <a:srgbClr val="E06C7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&lt;/p&gt;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E06C7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&lt;small&gt;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Precipita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ç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ã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o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: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{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precipitacao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%</a:t>
            </a:r>
            <a:r>
              <a:rPr lang="en-US" sz="1050" dirty="0">
                <a:solidFill>
                  <a:srgbClr val="E06C7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&lt;/small&gt;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E06C7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&lt;/div&gt;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E06C7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&lt;/div&gt;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E06C7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&lt;p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className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50" dirty="0">
                <a:solidFill>
                  <a:srgbClr val="98C37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"card-alerta"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&gt;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{</a:t>
            </a:r>
            <a:r>
              <a:rPr lang="en-US" sz="1050" dirty="0">
                <a:solidFill>
                  <a:srgbClr val="61AFE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obterMensagemAlerta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)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r>
              <a:rPr lang="en-US" sz="1050" dirty="0">
                <a:solidFill>
                  <a:srgbClr val="E06C7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&lt;/p&gt;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E06C7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&lt;/div&gt;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)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36592"/>
            <a:ext cx="9144000" cy="38404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77724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1C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25. App.jsx — Parte 5: renderizando a lista de cidades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749808"/>
            <a:ext cx="8321040" cy="4114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914400"/>
            <a:ext cx="8321040" cy="411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App.jsx, dentro do container, após o bloco do input, adicione: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1463040"/>
            <a:ext cx="8321040" cy="3017520"/>
          </a:xfrm>
          <a:prstGeom prst="roundRect">
            <a:avLst>
              <a:gd name="adj" fmla="val 2424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1508760"/>
            <a:ext cx="8046720" cy="2926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{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carregando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&amp;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&amp;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E06C7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&lt;p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className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50" dirty="0">
                <a:solidFill>
                  <a:srgbClr val="98C37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"msg-info"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&gt;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⏳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Buscando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dados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de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clima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.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.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.</a:t>
            </a:r>
            <a:r>
              <a:rPr lang="en-US" sz="1050" dirty="0">
                <a:solidFill>
                  <a:srgbClr val="E06C7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&lt;/p&gt;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{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erro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&amp;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&amp;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E06C7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&lt;p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className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50" dirty="0">
                <a:solidFill>
                  <a:srgbClr val="98C37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"msg-erro"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&gt;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❌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{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erro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r>
              <a:rPr lang="en-US" sz="1050" dirty="0">
                <a:solidFill>
                  <a:srgbClr val="E06C7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&lt;/p&gt;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E06C7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&lt;div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className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50" dirty="0">
                <a:solidFill>
                  <a:srgbClr val="98C37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"cidades-lista"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&gt;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{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cidades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.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length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D19A6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?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E06C7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&lt;p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className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50" dirty="0">
                <a:solidFill>
                  <a:srgbClr val="98C37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"msg-vazio"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&gt;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Nenhuma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cidade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adicionada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ainda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.</a:t>
            </a:r>
            <a:r>
              <a:rPr lang="en-US" sz="1050" dirty="0">
                <a:solidFill>
                  <a:srgbClr val="E06C7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&lt;/p&gt;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)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: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cidades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.</a:t>
            </a:r>
            <a:r>
              <a:rPr lang="en-US" sz="1050" dirty="0">
                <a:solidFill>
                  <a:srgbClr val="61AFE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map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cidade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)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&gt;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E06C7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&lt;div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key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{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cidade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.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id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className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50" dirty="0">
                <a:solidFill>
                  <a:srgbClr val="98C37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"card-wrapper"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&gt;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E06C7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&lt;CidadeCard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{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.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.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.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cidade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&gt;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E06C7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&lt;/div&gt;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)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)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)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E06C7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&lt;/div&gt;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36592"/>
            <a:ext cx="9144000" cy="38404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77724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1C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26. ✅ Checkpoint — Card de cidade aparece ao buscar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749808"/>
            <a:ext cx="8321040" cy="4114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914400"/>
            <a:ext cx="3931920" cy="3291840"/>
          </a:xfrm>
          <a:prstGeom prst="roundRect">
            <a:avLst>
              <a:gd name="adj" fmla="val 2222"/>
            </a:avLst>
          </a:prstGeom>
          <a:solidFill>
            <a:srgbClr val="EAFAF1"/>
          </a:solidFill>
          <a:ln w="12700">
            <a:solidFill>
              <a:srgbClr val="EAFAF1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987552"/>
            <a:ext cx="35661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84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Deve aparecer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1371600"/>
            <a:ext cx="3566160" cy="23774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84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Card com temperatura atual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84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Emoji ☁️ ou 🌧️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84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 de fundo (verde / amarelo / vermelho)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84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Mensagem de alerta no rodapé do card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36592"/>
            <a:ext cx="9144000" cy="38404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77724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1C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27. App.jsx — Parte 6: função remover e botão ×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749808"/>
            <a:ext cx="8321040" cy="4114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914400"/>
            <a:ext cx="8321040" cy="411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Adicione handleRemoverCidade antes do return: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1463040"/>
            <a:ext cx="8321040" cy="868680"/>
          </a:xfrm>
          <a:prstGeom prst="roundRect">
            <a:avLst>
              <a:gd name="adj" fmla="val 8421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1508760"/>
            <a:ext cx="804672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C678D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const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handleRemoverCidade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id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)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&gt;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{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61AFE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setCidades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prev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)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&gt;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prev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.</a:t>
            </a:r>
            <a:r>
              <a:rPr lang="en-US" sz="1050" dirty="0">
                <a:solidFill>
                  <a:srgbClr val="61AFE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filter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)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&gt;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.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id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!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id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)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)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11480" y="2423160"/>
            <a:ext cx="83210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C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Dentro do .map(), substitua &lt;CidadeCard {...cidade} /&gt; por: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" y="2834640"/>
            <a:ext cx="8321040" cy="1737360"/>
          </a:xfrm>
          <a:prstGeom prst="roundRect">
            <a:avLst>
              <a:gd name="adj" fmla="val 4211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2880360"/>
            <a:ext cx="8046720" cy="1645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E06C7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&lt;div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key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{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cidade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.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id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className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50" dirty="0">
                <a:solidFill>
                  <a:srgbClr val="98C37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"card-wrapper"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&gt;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E06C7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&lt;CidadeCard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{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.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.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.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cidade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&gt;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button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className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50" dirty="0">
                <a:solidFill>
                  <a:srgbClr val="98C37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"btn-remover"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onClick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{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)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&gt;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61AFE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handleRemoverCidade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cidade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.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id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)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&gt;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×</a:t>
            </a:r>
            <a:r>
              <a:rPr lang="en-US" sz="1050" dirty="0">
                <a:solidFill>
                  <a:srgbClr val="E06C7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&lt;/button&gt;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E06C7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&lt;/div&gt;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36592"/>
            <a:ext cx="9144000" cy="38404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77724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1C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7. index.css — Reset Global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749808"/>
            <a:ext cx="8321040" cy="4114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914400"/>
            <a:ext cx="8321040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Abra src/index.css e apague tudo.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Esse arquivo aplica estilos básicos ao body da página.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1874520"/>
            <a:ext cx="8321040" cy="1463040"/>
          </a:xfrm>
          <a:prstGeom prst="roundRect">
            <a:avLst>
              <a:gd name="adj" fmla="val 5000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1920240"/>
            <a:ext cx="804672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body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{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margin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: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D19A6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font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family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: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sans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serif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36592"/>
            <a:ext cx="9144000" cy="38404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77724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1C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8. App.css — Parte 1: geral e header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749808"/>
            <a:ext cx="8321040" cy="4114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914400"/>
            <a:ext cx="8321040" cy="411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Abra src/App.css e apague tudo. Vamos escrever em partes: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1463040"/>
            <a:ext cx="8321040" cy="2743200"/>
          </a:xfrm>
          <a:prstGeom prst="roundRect">
            <a:avLst>
              <a:gd name="adj" fmla="val 2667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1508760"/>
            <a:ext cx="8046720" cy="2651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*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GERAL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*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*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{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box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sizing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: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border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box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margin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: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D19A6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padding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: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D19A6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body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{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font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family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: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sans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serif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background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: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#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f8f9fa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.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app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container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{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min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height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: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D19A6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100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vh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.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container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{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max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width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: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D19A6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600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px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margin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: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D19A6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auto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padding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: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D19A6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20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px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*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HEADER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*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.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header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{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background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: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#</a:t>
            </a:r>
            <a:r>
              <a:rPr lang="en-US" sz="1050" dirty="0">
                <a:solidFill>
                  <a:srgbClr val="D19A6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d6efd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color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: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white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padding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: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D19A6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20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px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.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header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{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margin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top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: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D19A6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4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px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opacity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: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D19A6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0.85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36592"/>
            <a:ext cx="9144000" cy="38404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77724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1C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9. App.css — Parte 2: botões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749808"/>
            <a:ext cx="8321040" cy="4114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914400"/>
            <a:ext cx="8321040" cy="411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Continue no mesmo App.css, adicione abaixo do que já digitou: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1463040"/>
            <a:ext cx="8321040" cy="2834640"/>
          </a:xfrm>
          <a:prstGeom prst="roundRect">
            <a:avLst>
              <a:gd name="adj" fmla="val 2581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1508760"/>
            <a:ext cx="8046720" cy="2743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.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btn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adicionar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{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width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: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D19A6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100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%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padding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: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D19A6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12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px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margin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bottom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: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D19A6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16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px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background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: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#</a:t>
            </a:r>
            <a:r>
              <a:rPr lang="en-US" sz="1050" dirty="0">
                <a:solidFill>
                  <a:srgbClr val="D19A6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d6efd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color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: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white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border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: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none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border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radius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: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D19A6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8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px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cursor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: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pointer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.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btn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buscar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{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flex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: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D19A6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padding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: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D19A6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10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px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background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: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#</a:t>
            </a:r>
            <a:r>
              <a:rPr lang="en-US" sz="1050" dirty="0">
                <a:solidFill>
                  <a:srgbClr val="D19A6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198754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color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: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white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border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: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none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border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radius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: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D19A6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8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px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cursor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: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pointer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.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btn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cancelar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{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padding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: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D19A6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10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px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D19A6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16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px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background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: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#</a:t>
            </a:r>
            <a:r>
              <a:rPr lang="en-US" sz="1050" dirty="0">
                <a:solidFill>
                  <a:srgbClr val="D19A6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6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c757d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color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: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white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border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: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none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border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radius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: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D19A6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8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px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cursor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: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pointer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.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btn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remover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{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position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: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absolute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top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: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D19A6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8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px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right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: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D19A6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8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px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background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: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#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dc3545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color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: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white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border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: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none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border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radius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: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D19A6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4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px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padding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: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D19A6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px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D19A6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8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px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cursor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: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pointer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36592"/>
            <a:ext cx="9144000" cy="38404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77724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1C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10. App.css — Parte 3: input card e card cidade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749808"/>
            <a:ext cx="8321040" cy="4114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786384"/>
            <a:ext cx="1005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CÓDIGO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11480" y="914400"/>
            <a:ext cx="8321040" cy="3474720"/>
          </a:xfrm>
          <a:prstGeom prst="roundRect">
            <a:avLst>
              <a:gd name="adj" fmla="val 2105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960120"/>
            <a:ext cx="8046720" cy="3383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.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input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card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{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background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: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#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e9ecef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border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radius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: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D19A6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8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px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padding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: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D19A6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16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px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margin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bottom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: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D19A6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16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px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.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input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card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h5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{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margin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bottom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: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D19A6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10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px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.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input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card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input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{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width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: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D19A6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100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%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padding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: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D19A6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10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px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font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size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: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D19A6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rem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border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: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D19A6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px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solid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#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ccc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border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radius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: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D19A6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6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px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margin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bottom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: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D19A6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10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px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.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input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botoes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{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display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: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flex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gap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: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D19A6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8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px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.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card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wrapper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{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position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: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relative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margin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bottom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: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D19A6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12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px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.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card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{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border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radius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: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D19A6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8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px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padding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: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D19A6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16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px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box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shadow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: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D19A6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D19A6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px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D19A6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8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px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61AFE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rgba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</a:t>
            </a:r>
            <a:r>
              <a:rPr lang="en-US" sz="1050" dirty="0">
                <a:solidFill>
                  <a:srgbClr val="D19A6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,</a:t>
            </a:r>
            <a:r>
              <a:rPr lang="en-US" sz="1050" dirty="0">
                <a:solidFill>
                  <a:srgbClr val="D19A6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,</a:t>
            </a:r>
            <a:r>
              <a:rPr lang="en-US" sz="1050" dirty="0">
                <a:solidFill>
                  <a:srgbClr val="D19A6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,</a:t>
            </a:r>
            <a:r>
              <a:rPr lang="en-US" sz="1050" dirty="0">
                <a:solidFill>
                  <a:srgbClr val="D19A6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0.1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)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.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card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topo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{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display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: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flex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justify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content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: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space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between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align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items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: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center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.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icone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{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font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size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: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D19A6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rem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.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card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dados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{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text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align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: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right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.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card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alerta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{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margin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top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: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D19A6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12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px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font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size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: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D19A6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0.85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rem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endParaRPr lang="en-US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36592"/>
            <a:ext cx="9144000" cy="38404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77724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1C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11. App.css — Parte 4: mensagens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749808"/>
            <a:ext cx="8321040" cy="4114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914400"/>
            <a:ext cx="8321040" cy="411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Última parte do App.css — após isso, o arquivo está completo: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1463040"/>
            <a:ext cx="8321040" cy="2011680"/>
          </a:xfrm>
          <a:prstGeom prst="roundRect">
            <a:avLst>
              <a:gd name="adj" fmla="val 3636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1508760"/>
            <a:ext cx="8046720" cy="1920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.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msg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info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{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background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: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#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cff4fc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padding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: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D19A6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10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px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border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radius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: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D19A6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6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px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margin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bottom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: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D19A6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12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px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.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msg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erro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{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background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: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#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f8d7da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padding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: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D19A6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10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px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border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radius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: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D19A6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6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px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margin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bottom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: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D19A6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12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px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.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msg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vazio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{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background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: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#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e2e3e5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padding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: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D19A6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10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px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border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radius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: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D19A6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6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px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text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align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: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center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11480" y="3611880"/>
            <a:ext cx="8321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84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Salve o arquivo. O App.css está completo.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36592"/>
            <a:ext cx="9144000" cy="38404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77724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1C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28. ✅ Checkpoint — Projeto 100% funcional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749808"/>
            <a:ext cx="8321040" cy="4114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914400"/>
            <a:ext cx="3931920" cy="3291840"/>
          </a:xfrm>
          <a:prstGeom prst="roundRect">
            <a:avLst>
              <a:gd name="adj" fmla="val 2222"/>
            </a:avLst>
          </a:prstGeom>
          <a:solidFill>
            <a:srgbClr val="EAFAF1"/>
          </a:solidFill>
          <a:ln w="12700">
            <a:solidFill>
              <a:srgbClr val="EAFAF1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987552"/>
            <a:ext cx="35661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84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Fluxo completo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1371600"/>
            <a:ext cx="3566160" cy="23774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84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Clicar em + Adicionar Cidade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84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Digitar nome de uma cidade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84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Pressionar Enter ou Buscar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84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Card aparece com cor correta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84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Clicar × → card some da lista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84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Adicionar várias cidades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914400"/>
            <a:ext cx="3931920" cy="3291840"/>
          </a:xfrm>
          <a:prstGeom prst="roundRect">
            <a:avLst>
              <a:gd name="adj" fmla="val 2222"/>
            </a:avLst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37760" y="987552"/>
            <a:ext cx="35661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Estados esperados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1371600"/>
            <a:ext cx="3566160" cy="23774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⏳ Spinner aparece durante busca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❌ Erro aparece se cidade inválida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🟢 Verde → precipitação baixa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🟡 Amarelo → precipitação média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🔴 Vermelho → chuva ou precip. alta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36592"/>
            <a:ext cx="9144000" cy="38404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77724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1C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29. Estrutura Final do Projeto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749808"/>
            <a:ext cx="8321040" cy="4114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914400"/>
            <a:ext cx="5303520" cy="3383280"/>
          </a:xfrm>
          <a:prstGeom prst="roundRect">
            <a:avLst>
              <a:gd name="adj" fmla="val 2162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960120"/>
            <a:ext cx="5029200" cy="3291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meu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app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react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├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─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─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src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│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├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─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─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components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│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│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├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─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─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BotaoAdicionarCidade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.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jsx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│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│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├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─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─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CidadeCard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.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jsx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│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│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└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─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─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InputCidade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.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jsx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│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├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─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─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services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│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│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└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─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─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weatherService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.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js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│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├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─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─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App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.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css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App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.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jsx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index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.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css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main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.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jsx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├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─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─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.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env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←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sua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API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Key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n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ã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o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sobe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pro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GitHub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)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├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─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─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index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.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html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└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─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─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package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.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json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989320" y="914400"/>
            <a:ext cx="2743200" cy="3383280"/>
          </a:xfrm>
          <a:prstGeom prst="roundRect">
            <a:avLst>
              <a:gd name="adj" fmla="val 2667"/>
            </a:avLst>
          </a:prstGeom>
          <a:solidFill>
            <a:srgbClr val="FEFDE7"/>
          </a:solidFill>
          <a:ln w="12700">
            <a:solidFill>
              <a:srgbClr val="FEFDE7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126480" y="987552"/>
            <a:ext cx="24688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C0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⚠️ Importante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126480" y="1389888"/>
            <a:ext cx="2468880" cy="23774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4AC0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Nunca suba o .env pro GitHub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4AC0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Confirme que .env está no .gitignore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4AC0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Reinicie o servidor ao alterar o .env</a:t>
            </a:r>
            <a:endParaRPr lang="en-US" sz="1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36592"/>
            <a:ext cx="9144000" cy="38404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77724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altLang="en-US" sz="2400" b="1" dirty="0">
                <a:solidFill>
                  <a:srgbClr val="1C1C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31</a:t>
            </a:r>
            <a:r>
              <a:rPr lang="en-US" sz="2400" b="1" dirty="0">
                <a:solidFill>
                  <a:srgbClr val="1C1C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. </a:t>
            </a:r>
            <a:r>
              <a:rPr lang="pt-BR" altLang="en-US" sz="2400" b="1" dirty="0">
                <a:solidFill>
                  <a:srgbClr val="1C1C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Atividade Para Casa</a:t>
            </a:r>
            <a:endParaRPr lang="pt-BR" altLang="en-US" sz="2400" b="1" dirty="0">
              <a:solidFill>
                <a:srgbClr val="1C1C1C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11480" y="749808"/>
            <a:ext cx="8321040" cy="4114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36592"/>
            <a:ext cx="9144000" cy="38404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77724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altLang="en-US" sz="2400" b="1" dirty="0">
                <a:solidFill>
                  <a:srgbClr val="1C1C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32</a:t>
            </a:r>
            <a:r>
              <a:rPr lang="en-US" sz="2400" b="1" dirty="0">
                <a:solidFill>
                  <a:srgbClr val="1C1C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. </a:t>
            </a:r>
            <a:r>
              <a:rPr lang="pt-BR" altLang="en-US" sz="2400" b="1" dirty="0">
                <a:solidFill>
                  <a:srgbClr val="1C1C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Punição</a:t>
            </a:r>
            <a:endParaRPr lang="pt-BR" altLang="en-US" sz="2400" b="1" dirty="0">
              <a:solidFill>
                <a:srgbClr val="1C1C1C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11480" y="749808"/>
            <a:ext cx="8321040" cy="4114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914400"/>
            <a:ext cx="5303520" cy="3383280"/>
          </a:xfrm>
          <a:prstGeom prst="roundRect">
            <a:avLst>
              <a:gd name="adj" fmla="val 2162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p>
            <a:endParaRPr lang="pt-BR" altLang="en-US"/>
          </a:p>
        </p:txBody>
      </p:sp>
      <p:sp>
        <p:nvSpPr>
          <p:cNvPr id="8" name="Text 6"/>
          <p:cNvSpPr/>
          <p:nvPr/>
        </p:nvSpPr>
        <p:spPr>
          <a:xfrm>
            <a:off x="594360" y="960120"/>
            <a:ext cx="5029200" cy="3291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  <a:sym typeface="+mn-ea"/>
              </a:rPr>
              <a:t>npm create vite@latest meu-app-react -- --template react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  <a:sym typeface="+mn-ea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  <a:sym typeface="+mn-ea"/>
              </a:rPr>
              <a:t>cd meu-app-react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  <a:sym typeface="+mn-ea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  <a:sym typeface="+mn-ea"/>
              </a:rPr>
              <a:t>npm install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  <a:sym typeface="+mn-ea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  <a:sym typeface="+mn-ea"/>
              </a:rPr>
              <a:t>mkdir src/components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  <a:sym typeface="+mn-ea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  <a:sym typeface="+mn-ea"/>
              </a:rPr>
              <a:t>mkdir src/services</a:t>
            </a: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  <a:sym typeface="+mn-ea"/>
              </a:rPr>
              <a:t>
</a:t>
            </a:r>
            <a:r>
              <a:rPr lang="en-US" sz="10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  <a:sym typeface="+mn-ea"/>
              </a:rPr>
              <a:t>npm run dev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989320" y="914400"/>
            <a:ext cx="2743200" cy="3383280"/>
          </a:xfrm>
          <a:prstGeom prst="roundRect">
            <a:avLst>
              <a:gd name="adj" fmla="val 2667"/>
            </a:avLst>
          </a:prstGeom>
          <a:solidFill>
            <a:srgbClr val="FEFDE7"/>
          </a:solidFill>
          <a:ln w="12700">
            <a:solidFill>
              <a:srgbClr val="FEFDE7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126480" y="987552"/>
            <a:ext cx="24688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C0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⚠️ </a:t>
            </a:r>
            <a:r>
              <a:rPr lang="pt-BR" altLang="en-US" sz="1300" b="1" dirty="0">
                <a:solidFill>
                  <a:srgbClr val="D4AC0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Punição</a:t>
            </a:r>
            <a:endParaRPr lang="pt-BR" altLang="en-US" sz="1300" b="1" dirty="0">
              <a:solidFill>
                <a:srgbClr val="D4AC0D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126480" y="1389888"/>
            <a:ext cx="2468880" cy="23774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pt-BR" altLang="en-US" sz="1300" dirty="0">
                <a:solidFill>
                  <a:srgbClr val="D4AC0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Explique o que cada comando ao lado faz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13110</Words>
  <Application>WPS Presentation</Application>
  <PresentationFormat>On-screen Show (16:9)</PresentationFormat>
  <Paragraphs>266</Paragraphs>
  <Slides>32</Slides>
  <Notes>29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32</vt:i4>
      </vt:variant>
    </vt:vector>
  </HeadingPairs>
  <TitlesOfParts>
    <vt:vector size="45" baseType="lpstr">
      <vt:lpstr>Arial</vt:lpstr>
      <vt:lpstr>SimSun</vt:lpstr>
      <vt:lpstr>Wingdings</vt:lpstr>
      <vt:lpstr>Calibri</vt:lpstr>
      <vt:lpstr>Calibri</vt:lpstr>
      <vt:lpstr>Calibri</vt:lpstr>
      <vt:lpstr>Courier New</vt:lpstr>
      <vt:lpstr>Courier New</vt:lpstr>
      <vt:lpstr>Courier New</vt:lpstr>
      <vt:lpstr>Microsoft YaHei</vt:lpstr>
      <vt:lpstr>Arial Unicode MS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Dashboard de Monitoramento de Clima</dc:title>
  <dc:creator>PptxGenJS</dc:creator>
  <dc:subject>PptxGenJS Presentation</dc:subject>
  <cp:lastModifiedBy>Fabio Campos</cp:lastModifiedBy>
  <cp:revision>10</cp:revision>
  <dcterms:created xsi:type="dcterms:W3CDTF">2026-06-24T14:03:00Z</dcterms:created>
  <dcterms:modified xsi:type="dcterms:W3CDTF">2026-06-28T14:18:40Z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1046-12.1.0.26880</vt:lpwstr>
  </property>
  <property fmtid="{D5CDD505-2E9C-101B-9397-08002B2CF9AE}" pid="3" name="ICV">
    <vt:lpwstr>1DC6C38352A0489DA58A1A71E866841E_12</vt:lpwstr>
  </property>
</Properties>
</file>